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miri Bold" panose="02010600030101010101" charset="-78"/>
      <p:bold r:id="rId3"/>
    </p:embeddedFont>
    <p:embeddedFont>
      <p:font typeface="Arimo" panose="02010600030101010101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Arimo Bold" panose="02010600030101010101" charset="0"/>
      <p:bold r:id="rId9"/>
    </p:embeddedFont>
    <p:embeddedFont>
      <p:font typeface="Amiri" panose="02010600030101010101" charset="-78"/>
      <p:regular r:id="rId10"/>
    </p:embeddedFont>
  </p:embeddedFontLst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58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gs" Target="tags/tag1.xml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12" Type="http://schemas.openxmlformats.org/officeDocument/2006/relationships/image" Target="../media/image11.svg"/><Relationship Id="rId17" Type="http://schemas.openxmlformats.org/officeDocument/2006/relationships/image" Target="../media/image12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7.jpeg"/><Relationship Id="rId5" Type="http://schemas.openxmlformats.org/officeDocument/2006/relationships/image" Target="../media/image4.jpeg"/><Relationship Id="rId15" Type="http://schemas.openxmlformats.org/officeDocument/2006/relationships/image" Target="../media/image10.png"/><Relationship Id="rId10" Type="http://schemas.openxmlformats.org/officeDocument/2006/relationships/image" Target="../media/image9.svg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6.jpe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8ECF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71259">
            <a:off x="12805690" y="2882068"/>
            <a:ext cx="9229674" cy="9229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3C4FF">
                    <a:alpha val="53500"/>
                  </a:srgbClr>
                </a:gs>
                <a:gs pos="100000">
                  <a:srgbClr val="FFFFFF">
                    <a:alpha val="55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BEDCFE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4429220">
            <a:off x="1274269" y="-820499"/>
            <a:ext cx="2054602" cy="205460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3C4FF">
                    <a:alpha val="53500"/>
                  </a:srgbClr>
                </a:gs>
                <a:gs pos="100000">
                  <a:srgbClr val="FFFFFF">
                    <a:alpha val="55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BEDCFE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4429220">
            <a:off x="-1295735" y="-910272"/>
            <a:ext cx="3686904" cy="368690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3C4FF">
                    <a:alpha val="53500"/>
                  </a:srgbClr>
                </a:gs>
                <a:gs pos="100000">
                  <a:srgbClr val="FFFFFF">
                    <a:alpha val="55000"/>
                  </a:srgbClr>
                </a:gs>
              </a:gsLst>
              <a:lin ang="0"/>
            </a:gradFill>
            <a:ln w="28575" cap="sq">
              <a:gradFill>
                <a:gsLst>
                  <a:gs pos="0">
                    <a:srgbClr val="BEDCFE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86070" y="2180816"/>
            <a:ext cx="3241735" cy="4483812"/>
          </a:xfrm>
          <a:custGeom>
            <a:avLst/>
            <a:gdLst/>
            <a:ahLst/>
            <a:cxnLst/>
            <a:rect l="l" t="t" r="r" b="b"/>
            <a:pathLst>
              <a:path w="3241735" h="4483812">
                <a:moveTo>
                  <a:pt x="0" y="0"/>
                </a:moveTo>
                <a:lnTo>
                  <a:pt x="3241735" y="0"/>
                </a:lnTo>
                <a:lnTo>
                  <a:pt x="3241735" y="4483812"/>
                </a:lnTo>
                <a:lnTo>
                  <a:pt x="0" y="4483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234747" y="2180816"/>
            <a:ext cx="1814292" cy="1762945"/>
          </a:xfrm>
          <a:custGeom>
            <a:avLst/>
            <a:gdLst/>
            <a:ahLst/>
            <a:cxnLst/>
            <a:rect l="l" t="t" r="r" b="b"/>
            <a:pathLst>
              <a:path w="1814292" h="1762945">
                <a:moveTo>
                  <a:pt x="0" y="0"/>
                </a:moveTo>
                <a:lnTo>
                  <a:pt x="1814292" y="0"/>
                </a:lnTo>
                <a:lnTo>
                  <a:pt x="1814292" y="1762944"/>
                </a:lnTo>
                <a:lnTo>
                  <a:pt x="0" y="1762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166939" y="4886319"/>
            <a:ext cx="1814292" cy="1730684"/>
          </a:xfrm>
          <a:custGeom>
            <a:avLst/>
            <a:gdLst/>
            <a:ahLst/>
            <a:cxnLst/>
            <a:rect l="l" t="t" r="r" b="b"/>
            <a:pathLst>
              <a:path w="1814292" h="1730684">
                <a:moveTo>
                  <a:pt x="0" y="0"/>
                </a:moveTo>
                <a:lnTo>
                  <a:pt x="1814293" y="0"/>
                </a:lnTo>
                <a:lnTo>
                  <a:pt x="1814293" y="1730684"/>
                </a:lnTo>
                <a:lnTo>
                  <a:pt x="0" y="173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802739" y="7159636"/>
            <a:ext cx="286693" cy="467117"/>
          </a:xfrm>
          <a:custGeom>
            <a:avLst/>
            <a:gdLst/>
            <a:ahLst/>
            <a:cxnLst/>
            <a:rect l="l" t="t" r="r" b="b"/>
            <a:pathLst>
              <a:path w="286693" h="467117">
                <a:moveTo>
                  <a:pt x="0" y="0"/>
                </a:moveTo>
                <a:lnTo>
                  <a:pt x="286694" y="0"/>
                </a:lnTo>
                <a:lnTo>
                  <a:pt x="286694" y="467117"/>
                </a:lnTo>
                <a:lnTo>
                  <a:pt x="0" y="467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5"/>
          <p:cNvSpPr/>
          <p:nvPr/>
        </p:nvSpPr>
        <p:spPr>
          <a:xfrm>
            <a:off x="814049" y="8476836"/>
            <a:ext cx="396106" cy="303201"/>
          </a:xfrm>
          <a:custGeom>
            <a:avLst/>
            <a:gdLst/>
            <a:ahLst/>
            <a:cxnLst/>
            <a:rect l="l" t="t" r="r" b="b"/>
            <a:pathLst>
              <a:path w="396106" h="303201">
                <a:moveTo>
                  <a:pt x="0" y="0"/>
                </a:moveTo>
                <a:lnTo>
                  <a:pt x="396105" y="0"/>
                </a:lnTo>
                <a:lnTo>
                  <a:pt x="396105" y="303201"/>
                </a:lnTo>
                <a:lnTo>
                  <a:pt x="0" y="303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14049" y="7917803"/>
            <a:ext cx="396106" cy="396106"/>
          </a:xfrm>
          <a:custGeom>
            <a:avLst/>
            <a:gdLst/>
            <a:ahLst/>
            <a:cxnLst/>
            <a:rect l="l" t="t" r="r" b="b"/>
            <a:pathLst>
              <a:path w="396106" h="396106">
                <a:moveTo>
                  <a:pt x="0" y="0"/>
                </a:moveTo>
                <a:lnTo>
                  <a:pt x="396105" y="0"/>
                </a:lnTo>
                <a:lnTo>
                  <a:pt x="396105" y="396106"/>
                </a:lnTo>
                <a:lnTo>
                  <a:pt x="0" y="3961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51962" y="8987471"/>
            <a:ext cx="315889" cy="364662"/>
          </a:xfrm>
          <a:custGeom>
            <a:avLst/>
            <a:gdLst/>
            <a:ahLst/>
            <a:cxnLst/>
            <a:rect l="l" t="t" r="r" b="b"/>
            <a:pathLst>
              <a:path w="315889" h="364662">
                <a:moveTo>
                  <a:pt x="0" y="0"/>
                </a:moveTo>
                <a:lnTo>
                  <a:pt x="315888" y="0"/>
                </a:lnTo>
                <a:lnTo>
                  <a:pt x="315888" y="364663"/>
                </a:lnTo>
                <a:lnTo>
                  <a:pt x="0" y="3646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>
            <a:spLocks noChangeAspect="1"/>
          </p:cNvSpPr>
          <p:nvPr/>
        </p:nvSpPr>
        <p:spPr>
          <a:xfrm>
            <a:off x="6005999" y="8368275"/>
            <a:ext cx="1554117" cy="1554117"/>
          </a:xfrm>
          <a:custGeom>
            <a:avLst/>
            <a:gdLst/>
            <a:ahLst/>
            <a:cxnLst/>
            <a:rect l="l" t="t" r="r" b="b"/>
            <a:pathLst>
              <a:path w="2100262" h="2100262">
                <a:moveTo>
                  <a:pt x="0" y="0"/>
                </a:moveTo>
                <a:lnTo>
                  <a:pt x="2100262" y="0"/>
                </a:lnTo>
                <a:lnTo>
                  <a:pt x="2100262" y="2100262"/>
                </a:lnTo>
                <a:lnTo>
                  <a:pt x="0" y="21002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9"/>
          <p:cNvSpPr/>
          <p:nvPr/>
        </p:nvSpPr>
        <p:spPr>
          <a:xfrm>
            <a:off x="9800532" y="618539"/>
            <a:ext cx="2581604" cy="410161"/>
          </a:xfrm>
          <a:custGeom>
            <a:avLst/>
            <a:gdLst/>
            <a:ahLst/>
            <a:cxnLst/>
            <a:rect l="l" t="t" r="r" b="b"/>
            <a:pathLst>
              <a:path w="2581604" h="410161">
                <a:moveTo>
                  <a:pt x="0" y="0"/>
                </a:moveTo>
                <a:lnTo>
                  <a:pt x="2581604" y="0"/>
                </a:lnTo>
                <a:lnTo>
                  <a:pt x="2581604" y="410161"/>
                </a:lnTo>
                <a:lnTo>
                  <a:pt x="0" y="4101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461763" y="0"/>
            <a:ext cx="2769087" cy="1285318"/>
          </a:xfrm>
          <a:custGeom>
            <a:avLst/>
            <a:gdLst/>
            <a:ahLst/>
            <a:cxnLst/>
            <a:rect l="l" t="t" r="r" b="b"/>
            <a:pathLst>
              <a:path w="2769087" h="1285318">
                <a:moveTo>
                  <a:pt x="0" y="0"/>
                </a:moveTo>
                <a:lnTo>
                  <a:pt x="2769087" y="0"/>
                </a:lnTo>
                <a:lnTo>
                  <a:pt x="2769087" y="1285318"/>
                </a:lnTo>
                <a:lnTo>
                  <a:pt x="0" y="128531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472154"/>
            <a:ext cx="15416381" cy="69813"/>
          </a:xfrm>
          <a:custGeom>
            <a:avLst/>
            <a:gdLst/>
            <a:ahLst/>
            <a:cxnLst/>
            <a:rect l="l" t="t" r="r" b="b"/>
            <a:pathLst>
              <a:path w="15416381" h="69813">
                <a:moveTo>
                  <a:pt x="0" y="0"/>
                </a:moveTo>
                <a:lnTo>
                  <a:pt x="15416381" y="0"/>
                </a:lnTo>
                <a:lnTo>
                  <a:pt x="15416381" y="69813"/>
                </a:lnTo>
                <a:lnTo>
                  <a:pt x="0" y="698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852" r="-2693" b="-9852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800532" y="7752677"/>
            <a:ext cx="3940032" cy="410161"/>
          </a:xfrm>
          <a:custGeom>
            <a:avLst/>
            <a:gdLst/>
            <a:ahLst/>
            <a:cxnLst/>
            <a:rect l="l" t="t" r="r" b="b"/>
            <a:pathLst>
              <a:path w="3940032" h="410161">
                <a:moveTo>
                  <a:pt x="0" y="0"/>
                </a:moveTo>
                <a:lnTo>
                  <a:pt x="3940032" y="0"/>
                </a:lnTo>
                <a:lnTo>
                  <a:pt x="3940032" y="410161"/>
                </a:lnTo>
                <a:lnTo>
                  <a:pt x="0" y="4101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26309" b="-2630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4887" y="761591"/>
            <a:ext cx="735801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7000" spc="-335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Robot Learning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37149" y="2366963"/>
            <a:ext cx="3274089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spc="-79">
                <a:solidFill>
                  <a:srgbClr val="000000"/>
                </a:solidFill>
                <a:latin typeface="Amiri Bold" panose="00000500000000000000"/>
                <a:ea typeface="Amiri Bold" panose="00000500000000000000"/>
                <a:cs typeface="Amiri Bold" panose="00000500000000000000"/>
                <a:sym typeface="Amiri Bold" panose="00000500000000000000"/>
              </a:rPr>
              <a:t>Editor-in-Chief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spc="-79">
                <a:solidFill>
                  <a:srgbClr val="000000"/>
                </a:solidFill>
                <a:latin typeface="Amiri Bold" panose="00000500000000000000"/>
                <a:ea typeface="Amiri Bold" panose="00000500000000000000"/>
                <a:cs typeface="Amiri Bold" panose="00000500000000000000"/>
                <a:sym typeface="Amiri Bold" panose="00000500000000000000"/>
              </a:rPr>
              <a:t>Prof. Dr. Hesheng Wang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70">
                <a:solidFill>
                  <a:srgbClr val="000000"/>
                </a:solidFill>
                <a:latin typeface="Amiri" panose="00000500000000000000"/>
                <a:ea typeface="Amiri" panose="00000500000000000000"/>
                <a:cs typeface="Amiri" panose="00000500000000000000"/>
                <a:sym typeface="Amiri" panose="00000500000000000000"/>
              </a:rPr>
              <a:t>Shanghai Jiao Tong University, China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69341" y="5223023"/>
            <a:ext cx="3274089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spc="-79" dirty="0">
                <a:solidFill>
                  <a:srgbClr val="000000"/>
                </a:solidFill>
                <a:latin typeface="Amiri Bold" panose="00000500000000000000"/>
                <a:ea typeface="Amiri Bold" panose="00000500000000000000"/>
                <a:cs typeface="Amiri Bold" panose="00000500000000000000"/>
                <a:sym typeface="Amiri Bold" panose="00000500000000000000"/>
              </a:rPr>
              <a:t>Editor-in-Chief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spc="-79" dirty="0">
                <a:solidFill>
                  <a:srgbClr val="000000"/>
                </a:solidFill>
                <a:latin typeface="Amiri Bold" panose="00000500000000000000"/>
                <a:ea typeface="Amiri Bold" panose="00000500000000000000"/>
                <a:cs typeface="Amiri Bold" panose="00000500000000000000"/>
                <a:sym typeface="Amiri Bold" panose="00000500000000000000"/>
              </a:rPr>
              <a:t>Prof. </a:t>
            </a:r>
            <a:r>
              <a:rPr lang="en-US" sz="2500" spc="-79" dirty="0" err="1">
                <a:solidFill>
                  <a:srgbClr val="000000"/>
                </a:solidFill>
                <a:latin typeface="Amiri Bold" panose="00000500000000000000"/>
                <a:ea typeface="Amiri Bold" panose="00000500000000000000"/>
                <a:cs typeface="Amiri Bold" panose="00000500000000000000"/>
                <a:sym typeface="Amiri Bold" panose="00000500000000000000"/>
              </a:rPr>
              <a:t>Chenguang</a:t>
            </a:r>
            <a:r>
              <a:rPr lang="en-US" sz="2500" spc="-79" dirty="0">
                <a:solidFill>
                  <a:srgbClr val="000000"/>
                </a:solidFill>
                <a:latin typeface="Amiri Bold" panose="00000500000000000000"/>
                <a:ea typeface="Amiri Bold" panose="00000500000000000000"/>
                <a:cs typeface="Amiri Bold" panose="00000500000000000000"/>
                <a:sym typeface="Amiri Bold" panose="00000500000000000000"/>
              </a:rPr>
              <a:t> Yang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70" dirty="0">
                <a:solidFill>
                  <a:srgbClr val="000000"/>
                </a:solidFill>
                <a:latin typeface="Amiri" panose="00000500000000000000"/>
                <a:ea typeface="Amiri" panose="00000500000000000000"/>
                <a:cs typeface="Amiri" panose="00000500000000000000"/>
                <a:sym typeface="Amiri" panose="00000500000000000000"/>
              </a:rPr>
              <a:t>University of Liverpool, UK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4985" y="6972300"/>
            <a:ext cx="5716201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 spc="-49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Quarterly</a:t>
            </a:r>
          </a:p>
          <a:p>
            <a:pPr algn="l">
              <a:lnSpc>
                <a:spcPts val="3250"/>
              </a:lnSpc>
            </a:pPr>
            <a:r>
              <a:rPr lang="en-US" sz="2500" spc="-49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Online Immediately and continuously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4000" y="7842716"/>
            <a:ext cx="5967339" cy="4770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Arimo" panose="02010600030101010101" charset="0"/>
                <a:cs typeface="Times New Roman" panose="02020603050405020304" pitchFamily="18" charset="0"/>
              </a:defRPr>
            </a:lvl1pPr>
          </a:lstStyle>
          <a:p>
            <a:r>
              <a:rPr lang="en-US" sz="2500" dirty="0">
                <a:sym typeface="Arimo" panose="020B0604020202020204"/>
              </a:rPr>
              <a:t>elspub.com/journals/robot-learning/home/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2037" y="8389909"/>
            <a:ext cx="3373039" cy="4770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Arimo" panose="02010600030101010101" charset="0"/>
                <a:cs typeface="Times New Roman" panose="02020603050405020304" pitchFamily="18" charset="0"/>
              </a:defRPr>
            </a:lvl1pPr>
          </a:lstStyle>
          <a:p>
            <a:r>
              <a:rPr lang="en-US" sz="2500" dirty="0">
                <a:sym typeface="Arimo" panose="020B0604020202020204"/>
              </a:rPr>
              <a:t>E-mail: rl@elspub.com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4889" y="8938969"/>
            <a:ext cx="398378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Arimo" panose="02010600030101010101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Arimo" panose="020B0604020202020204"/>
              </a:rPr>
              <a:t>Submission:  jms.elspub.com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82860" y="608330"/>
            <a:ext cx="1730375" cy="384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spc="-79">
                <a:solidFill>
                  <a:srgbClr val="FDFDF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Scope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95620" y="1228168"/>
            <a:ext cx="7881250" cy="626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enhanced perception for robotics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enhanced robot planning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enhanced robot manipulation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enhanced robot control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method for human-robot coordination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method for multi-robot cooperation or confrontation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method for self-driving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based robotic warehousing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enhanced intelligent transportation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method for bionic robotics and medical robotics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Learning method for UAV and USV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Deep learning, imitation learning and reinforcement learning for robotic system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Sim-to-Real transfer for robotic applications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Dataset, benchmark and simulator for robotic learning</a:t>
            </a:r>
          </a:p>
          <a:p>
            <a:pPr marL="496570" lvl="1" indent="-248285" algn="just">
              <a:lnSpc>
                <a:spcPts val="3105"/>
              </a:lnSpc>
              <a:buFont typeface="Arial" panose="020B0604020202020204"/>
              <a:buChar char="•"/>
            </a:pPr>
            <a:r>
              <a:rPr lang="en-US" sz="2300" spc="-73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Applications for robotic learning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29639" y="8248966"/>
            <a:ext cx="6444203" cy="164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l">
              <a:lnSpc>
                <a:spcPts val="3250"/>
              </a:lnSpc>
              <a:buFont typeface="Arial" panose="020B0604020202020204"/>
              <a:buChar char="•"/>
            </a:pPr>
            <a:r>
              <a:rPr lang="en-US" sz="2500" spc="-79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International Editorial Board</a:t>
            </a:r>
          </a:p>
          <a:p>
            <a:pPr marL="539750" lvl="1" indent="-269875" algn="l">
              <a:lnSpc>
                <a:spcPts val="3250"/>
              </a:lnSpc>
              <a:buFont typeface="Arial" panose="020B0604020202020204"/>
              <a:buChar char="•"/>
            </a:pPr>
            <a:r>
              <a:rPr lang="en-US" sz="2500" spc="-79" dirty="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Rigorous Peer Review</a:t>
            </a:r>
          </a:p>
          <a:p>
            <a:pPr marL="539750" lvl="1" indent="-269875" algn="l">
              <a:lnSpc>
                <a:spcPts val="3250"/>
              </a:lnSpc>
              <a:buFont typeface="Arial" panose="020B0604020202020204"/>
              <a:buChar char="•"/>
            </a:pPr>
            <a:r>
              <a:rPr lang="en-US" sz="2500" spc="-79" dirty="0">
                <a:solidFill>
                  <a:srgbClr val="FF313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Targeted JIF &gt; 4</a:t>
            </a:r>
          </a:p>
          <a:p>
            <a:pPr marL="539750" lvl="1" indent="-269875" algn="l">
              <a:lnSpc>
                <a:spcPts val="3250"/>
              </a:lnSpc>
              <a:buFont typeface="Arial" panose="020B0604020202020204"/>
              <a:buChar char="•"/>
            </a:pPr>
            <a:r>
              <a:rPr lang="en-US" sz="2500" spc="-79" dirty="0">
                <a:solidFill>
                  <a:srgbClr val="FF313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APC Waived until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72600" y="7770495"/>
            <a:ext cx="4784090" cy="384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spc="-79">
                <a:solidFill>
                  <a:srgbClr val="FDFDF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Why publish with us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06749" y="9811825"/>
            <a:ext cx="1495842" cy="451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000" spc="-53" dirty="0">
                <a:solidFill>
                  <a:srgbClr val="004AAD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Submission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15006" y="9791700"/>
            <a:ext cx="1704994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000" spc="-54" dirty="0">
                <a:solidFill>
                  <a:srgbClr val="004AAD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Website</a:t>
            </a: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1168" y="8343900"/>
            <a:ext cx="1533335" cy="153679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886" y="9476100"/>
            <a:ext cx="482040" cy="468000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1324889" y="9472640"/>
            <a:ext cx="339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rimo" panose="02010600030101010101" charset="0"/>
                <a:cs typeface="Times New Roman" panose="02020603050405020304" pitchFamily="18" charset="0"/>
              </a:rPr>
              <a:t>Twitter: @RobotL26773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Arimo" panose="02010600030101010101" charset="0"/>
              <a:cs typeface="Times New Roman" panose="02020603050405020304" pitchFamily="18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039720" y="7531719"/>
            <a:ext cx="1982137" cy="1990295"/>
          </a:xfrm>
          <a:prstGeom prst="rect">
            <a:avLst/>
          </a:prstGeom>
        </p:spPr>
      </p:pic>
      <p:sp>
        <p:nvSpPr>
          <p:cNvPr id="41" name="TextBox 36"/>
          <p:cNvSpPr txBox="1"/>
          <p:nvPr/>
        </p:nvSpPr>
        <p:spPr>
          <a:xfrm>
            <a:off x="13761158" y="9497157"/>
            <a:ext cx="445855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altLang="zh-CN" sz="2000" b="1" spc="-53" dirty="0">
                <a:solidFill>
                  <a:srgbClr val="004AAD"/>
                </a:solidFill>
                <a:latin typeface="Times New Roman" panose="02020603050405020304" pitchFamily="18" charset="0"/>
                <a:ea typeface="Arimo Bold" panose="020B0704020202020204"/>
                <a:cs typeface="Times New Roman" panose="02020603050405020304" pitchFamily="18" charset="0"/>
              </a:rPr>
              <a:t>Early Career Editorial Board Recruitment</a:t>
            </a:r>
            <a:endParaRPr lang="en-US" sz="2000" b="1" spc="-53" dirty="0">
              <a:solidFill>
                <a:srgbClr val="004AAD"/>
              </a:solidFill>
              <a:latin typeface="Times New Roman" panose="02020603050405020304" pitchFamily="18" charset="0"/>
              <a:ea typeface="Arimo Bold" panose="020B0704020202020204"/>
              <a:cs typeface="Times New Roman" panose="02020603050405020304" pitchFamily="18" charset="0"/>
              <a:sym typeface="Arimo Bold" panose="020B07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k3NmJiMjI3M2FiNTk1MGJkMzhhMGU4ZWU1MzQxYj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151</Words>
  <Application>Microsoft Office PowerPoint</Application>
  <PresentationFormat>自定义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Amiri Bold</vt:lpstr>
      <vt:lpstr>Arimo</vt:lpstr>
      <vt:lpstr>Calibri</vt:lpstr>
      <vt:lpstr>Times New Roman</vt:lpstr>
      <vt:lpstr>Arimo Bold</vt:lpstr>
      <vt:lpstr>Arial</vt:lpstr>
      <vt:lpstr>Amiri</vt:lpstr>
      <vt:lpstr>宋体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Learning单页ppt</dc:title>
  <dc:creator/>
  <cp:lastModifiedBy>Editor Evelyn Jiang</cp:lastModifiedBy>
  <cp:revision>6</cp:revision>
  <dcterms:created xsi:type="dcterms:W3CDTF">2006-08-16T00:00:00Z</dcterms:created>
  <dcterms:modified xsi:type="dcterms:W3CDTF">2025-06-04T03:54:09Z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BDFE948BAD994AF8BE8F6A0C562FEF12_12</vt:lpwstr>
  </property>
  <property fmtid="{D5CDD505-2E9C-101B-9397-08002B2CF9AE}" pid="3" name="KSOProductBuildVer">
    <vt:lpwstr>2052-12.1.0.17147</vt:lpwstr>
  </property>
</Properties>
</file>